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5" r:id="rId18"/>
    <p:sldId id="276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4" d="100"/>
          <a:sy n="54" d="100"/>
        </p:scale>
        <p:origin x="5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C1140D-1584-417C-9ED1-45938E4747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B438E06-C021-4779-8BC3-0D626205FDBF}">
      <dgm:prSet/>
      <dgm:spPr/>
      <dgm:t>
        <a:bodyPr/>
        <a:lstStyle/>
        <a:p>
          <a:r>
            <a:rPr lang="en-US"/>
            <a:t>In 2008, Food Stamps were renamed to be the Supplemental Nutrition Assistance Program.</a:t>
          </a:r>
        </a:p>
      </dgm:t>
    </dgm:pt>
    <dgm:pt modelId="{553F67BE-9367-4FC5-8DCD-911FF6C6FF33}" type="parTrans" cxnId="{9B99434C-EFB2-4A5C-B845-04FA4696062B}">
      <dgm:prSet/>
      <dgm:spPr/>
      <dgm:t>
        <a:bodyPr/>
        <a:lstStyle/>
        <a:p>
          <a:endParaRPr lang="en-US"/>
        </a:p>
      </dgm:t>
    </dgm:pt>
    <dgm:pt modelId="{0DDFAA56-653B-4881-B82C-1D94345D97DA}" type="sibTrans" cxnId="{9B99434C-EFB2-4A5C-B845-04FA4696062B}">
      <dgm:prSet/>
      <dgm:spPr/>
      <dgm:t>
        <a:bodyPr/>
        <a:lstStyle/>
        <a:p>
          <a:endParaRPr lang="en-US"/>
        </a:p>
      </dgm:t>
    </dgm:pt>
    <dgm:pt modelId="{4F526D3F-962C-44E2-B60A-3CD2595EA248}">
      <dgm:prSet/>
      <dgm:spPr/>
      <dgm:t>
        <a:bodyPr/>
        <a:lstStyle/>
        <a:p>
          <a:r>
            <a:rPr lang="en-US"/>
            <a:t>In 2009, post 2008 crisis, the American Recovery and Reinvestment Act of 2009 (ARRA) gave an $831B stimulus package, 40B of which was in SNAP stimulus.</a:t>
          </a:r>
        </a:p>
      </dgm:t>
    </dgm:pt>
    <dgm:pt modelId="{B8101CF8-64E8-4746-876A-4036644609F1}" type="parTrans" cxnId="{504C773B-3B0A-4596-BA7C-E68A6553F2AA}">
      <dgm:prSet/>
      <dgm:spPr/>
      <dgm:t>
        <a:bodyPr/>
        <a:lstStyle/>
        <a:p>
          <a:endParaRPr lang="en-US"/>
        </a:p>
      </dgm:t>
    </dgm:pt>
    <dgm:pt modelId="{28751DD4-2C3D-459F-9348-D58761BFA11C}" type="sibTrans" cxnId="{504C773B-3B0A-4596-BA7C-E68A6553F2AA}">
      <dgm:prSet/>
      <dgm:spPr/>
      <dgm:t>
        <a:bodyPr/>
        <a:lstStyle/>
        <a:p>
          <a:endParaRPr lang="en-US"/>
        </a:p>
      </dgm:t>
    </dgm:pt>
    <dgm:pt modelId="{2892B24F-0899-448C-A05B-8F73E1DBB28F}">
      <dgm:prSet/>
      <dgm:spPr/>
      <dgm:t>
        <a:bodyPr/>
        <a:lstStyle/>
        <a:p>
          <a:r>
            <a:rPr lang="en-US"/>
            <a:t>Benefit ended 2013 (~November) because of the Healthy Hunger-Free Kids Act which drew more resources, ending the program earlier than expected (2014).</a:t>
          </a:r>
        </a:p>
      </dgm:t>
    </dgm:pt>
    <dgm:pt modelId="{D0F82706-9D6A-43E8-AD2C-673BA8DBE703}" type="parTrans" cxnId="{9ED329C3-EA9B-4B0D-BCFC-2395583990C0}">
      <dgm:prSet/>
      <dgm:spPr/>
      <dgm:t>
        <a:bodyPr/>
        <a:lstStyle/>
        <a:p>
          <a:endParaRPr lang="en-US"/>
        </a:p>
      </dgm:t>
    </dgm:pt>
    <dgm:pt modelId="{0A765B25-FE3A-42EC-9CD3-5B8D6D6F3554}" type="sibTrans" cxnId="{9ED329C3-EA9B-4B0D-BCFC-2395583990C0}">
      <dgm:prSet/>
      <dgm:spPr/>
      <dgm:t>
        <a:bodyPr/>
        <a:lstStyle/>
        <a:p>
          <a:endParaRPr lang="en-US"/>
        </a:p>
      </dgm:t>
    </dgm:pt>
    <dgm:pt modelId="{4901A49C-F313-4A8F-BDB8-A2D467C19D0B}">
      <dgm:prSet/>
      <dgm:spPr/>
      <dgm:t>
        <a:bodyPr/>
        <a:lstStyle/>
        <a:p>
          <a:r>
            <a:rPr lang="en-US"/>
            <a:t>Benefits per household reduced in the high single digits (7-8%).</a:t>
          </a:r>
        </a:p>
      </dgm:t>
    </dgm:pt>
    <dgm:pt modelId="{0821E917-A9A9-4089-AD40-FADDFAAEAF11}" type="parTrans" cxnId="{C8E4F563-53ED-4998-84D5-6578EB9D7782}">
      <dgm:prSet/>
      <dgm:spPr/>
      <dgm:t>
        <a:bodyPr/>
        <a:lstStyle/>
        <a:p>
          <a:endParaRPr lang="en-US"/>
        </a:p>
      </dgm:t>
    </dgm:pt>
    <dgm:pt modelId="{17B63A1B-D954-4B47-83AF-D57AEA6CD6CB}" type="sibTrans" cxnId="{C8E4F563-53ED-4998-84D5-6578EB9D7782}">
      <dgm:prSet/>
      <dgm:spPr/>
      <dgm:t>
        <a:bodyPr/>
        <a:lstStyle/>
        <a:p>
          <a:endParaRPr lang="en-US"/>
        </a:p>
      </dgm:t>
    </dgm:pt>
    <dgm:pt modelId="{B6245CF7-7A50-42AE-B6DA-38DBE717C366}" type="pres">
      <dgm:prSet presAssocID="{EBC1140D-1584-417C-9ED1-45938E4747C8}" presName="root" presStyleCnt="0">
        <dgm:presLayoutVars>
          <dgm:dir/>
          <dgm:resizeHandles val="exact"/>
        </dgm:presLayoutVars>
      </dgm:prSet>
      <dgm:spPr/>
    </dgm:pt>
    <dgm:pt modelId="{02B82B58-24CB-484E-8928-9F7FD00CA381}" type="pres">
      <dgm:prSet presAssocID="{4B438E06-C021-4779-8BC3-0D626205FDBF}" presName="compNode" presStyleCnt="0"/>
      <dgm:spPr/>
    </dgm:pt>
    <dgm:pt modelId="{2ED66B88-9B64-4B48-8114-30586B479116}" type="pres">
      <dgm:prSet presAssocID="{4B438E06-C021-4779-8BC3-0D626205FDBF}" presName="bgRect" presStyleLbl="bgShp" presStyleIdx="0" presStyleCnt="4"/>
      <dgm:spPr/>
    </dgm:pt>
    <dgm:pt modelId="{F2F1E6FF-CC3E-4A76-93E8-3C98991506ED}" type="pres">
      <dgm:prSet presAssocID="{4B438E06-C021-4779-8BC3-0D626205FDB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DDC2D0F2-EA23-4953-978E-3439A5A0751C}" type="pres">
      <dgm:prSet presAssocID="{4B438E06-C021-4779-8BC3-0D626205FDBF}" presName="spaceRect" presStyleCnt="0"/>
      <dgm:spPr/>
    </dgm:pt>
    <dgm:pt modelId="{A591ED90-5F8D-4BBB-A119-82D6DBF7E742}" type="pres">
      <dgm:prSet presAssocID="{4B438E06-C021-4779-8BC3-0D626205FDBF}" presName="parTx" presStyleLbl="revTx" presStyleIdx="0" presStyleCnt="4">
        <dgm:presLayoutVars>
          <dgm:chMax val="0"/>
          <dgm:chPref val="0"/>
        </dgm:presLayoutVars>
      </dgm:prSet>
      <dgm:spPr/>
    </dgm:pt>
    <dgm:pt modelId="{8D34A617-AC8F-4251-8D32-29FE3207D740}" type="pres">
      <dgm:prSet presAssocID="{0DDFAA56-653B-4881-B82C-1D94345D97DA}" presName="sibTrans" presStyleCnt="0"/>
      <dgm:spPr/>
    </dgm:pt>
    <dgm:pt modelId="{C76124B9-E8F7-4F25-B14E-0C37F8CF7345}" type="pres">
      <dgm:prSet presAssocID="{4F526D3F-962C-44E2-B60A-3CD2595EA248}" presName="compNode" presStyleCnt="0"/>
      <dgm:spPr/>
    </dgm:pt>
    <dgm:pt modelId="{2698888E-EB62-4318-95AA-9D3A62CC9B81}" type="pres">
      <dgm:prSet presAssocID="{4F526D3F-962C-44E2-B60A-3CD2595EA248}" presName="bgRect" presStyleLbl="bgShp" presStyleIdx="1" presStyleCnt="4"/>
      <dgm:spPr/>
    </dgm:pt>
    <dgm:pt modelId="{5A79CF2E-2C89-4DFA-9F49-CC7CC7197D54}" type="pres">
      <dgm:prSet presAssocID="{4F526D3F-962C-44E2-B60A-3CD2595EA24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4E6F794-EF72-4EE4-8081-C5E36C39CB2C}" type="pres">
      <dgm:prSet presAssocID="{4F526D3F-962C-44E2-B60A-3CD2595EA248}" presName="spaceRect" presStyleCnt="0"/>
      <dgm:spPr/>
    </dgm:pt>
    <dgm:pt modelId="{02F15EA7-2831-4AAC-AC3B-876B8E254488}" type="pres">
      <dgm:prSet presAssocID="{4F526D3F-962C-44E2-B60A-3CD2595EA248}" presName="parTx" presStyleLbl="revTx" presStyleIdx="1" presStyleCnt="4">
        <dgm:presLayoutVars>
          <dgm:chMax val="0"/>
          <dgm:chPref val="0"/>
        </dgm:presLayoutVars>
      </dgm:prSet>
      <dgm:spPr/>
    </dgm:pt>
    <dgm:pt modelId="{794C2AFB-382E-46D6-8346-89CAFC382C60}" type="pres">
      <dgm:prSet presAssocID="{28751DD4-2C3D-459F-9348-D58761BFA11C}" presName="sibTrans" presStyleCnt="0"/>
      <dgm:spPr/>
    </dgm:pt>
    <dgm:pt modelId="{0FC0C08B-1F7A-4D6F-870D-BCC89C40F1D0}" type="pres">
      <dgm:prSet presAssocID="{2892B24F-0899-448C-A05B-8F73E1DBB28F}" presName="compNode" presStyleCnt="0"/>
      <dgm:spPr/>
    </dgm:pt>
    <dgm:pt modelId="{3DF78BAB-9CBB-4C8A-B604-721A13330097}" type="pres">
      <dgm:prSet presAssocID="{2892B24F-0899-448C-A05B-8F73E1DBB28F}" presName="bgRect" presStyleLbl="bgShp" presStyleIdx="2" presStyleCnt="4"/>
      <dgm:spPr/>
    </dgm:pt>
    <dgm:pt modelId="{341F8D77-1031-4FC0-9EEA-248D13A7EF24}" type="pres">
      <dgm:prSet presAssocID="{2892B24F-0899-448C-A05B-8F73E1DBB28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5B836A30-592D-4CEF-9678-73FE4711E2A0}" type="pres">
      <dgm:prSet presAssocID="{2892B24F-0899-448C-A05B-8F73E1DBB28F}" presName="spaceRect" presStyleCnt="0"/>
      <dgm:spPr/>
    </dgm:pt>
    <dgm:pt modelId="{340DE9B4-81B3-46E8-8058-E0ED15EA839B}" type="pres">
      <dgm:prSet presAssocID="{2892B24F-0899-448C-A05B-8F73E1DBB28F}" presName="parTx" presStyleLbl="revTx" presStyleIdx="2" presStyleCnt="4">
        <dgm:presLayoutVars>
          <dgm:chMax val="0"/>
          <dgm:chPref val="0"/>
        </dgm:presLayoutVars>
      </dgm:prSet>
      <dgm:spPr/>
    </dgm:pt>
    <dgm:pt modelId="{3B84FCB7-1CBF-49D4-8ECC-430CAD422296}" type="pres">
      <dgm:prSet presAssocID="{0A765B25-FE3A-42EC-9CD3-5B8D6D6F3554}" presName="sibTrans" presStyleCnt="0"/>
      <dgm:spPr/>
    </dgm:pt>
    <dgm:pt modelId="{B987B3EA-6309-4DE0-9FA1-E7AC2AAC0505}" type="pres">
      <dgm:prSet presAssocID="{4901A49C-F313-4A8F-BDB8-A2D467C19D0B}" presName="compNode" presStyleCnt="0"/>
      <dgm:spPr/>
    </dgm:pt>
    <dgm:pt modelId="{B2182745-2B8C-4E81-8DE9-EA723A8B4B6F}" type="pres">
      <dgm:prSet presAssocID="{4901A49C-F313-4A8F-BDB8-A2D467C19D0B}" presName="bgRect" presStyleLbl="bgShp" presStyleIdx="3" presStyleCnt="4"/>
      <dgm:spPr/>
    </dgm:pt>
    <dgm:pt modelId="{359296A1-C2E0-4E42-A523-B1B42EC95853}" type="pres">
      <dgm:prSet presAssocID="{4901A49C-F313-4A8F-BDB8-A2D467C19D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th"/>
        </a:ext>
      </dgm:extLst>
    </dgm:pt>
    <dgm:pt modelId="{80897618-805D-450F-8B10-A756251A7CE1}" type="pres">
      <dgm:prSet presAssocID="{4901A49C-F313-4A8F-BDB8-A2D467C19D0B}" presName="spaceRect" presStyleCnt="0"/>
      <dgm:spPr/>
    </dgm:pt>
    <dgm:pt modelId="{D1AFB651-60DB-4779-9B23-6603651DA48D}" type="pres">
      <dgm:prSet presAssocID="{4901A49C-F313-4A8F-BDB8-A2D467C19D0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23B710C-3DEE-44E4-9CC8-4816EE05169C}" type="presOf" srcId="{4F526D3F-962C-44E2-B60A-3CD2595EA248}" destId="{02F15EA7-2831-4AAC-AC3B-876B8E254488}" srcOrd="0" destOrd="0" presId="urn:microsoft.com/office/officeart/2018/2/layout/IconVerticalSolidList"/>
    <dgm:cxn modelId="{C016D816-66F6-4862-8CB6-1FFD1B84CC67}" type="presOf" srcId="{4B438E06-C021-4779-8BC3-0D626205FDBF}" destId="{A591ED90-5F8D-4BBB-A119-82D6DBF7E742}" srcOrd="0" destOrd="0" presId="urn:microsoft.com/office/officeart/2018/2/layout/IconVerticalSolidList"/>
    <dgm:cxn modelId="{504C773B-3B0A-4596-BA7C-E68A6553F2AA}" srcId="{EBC1140D-1584-417C-9ED1-45938E4747C8}" destId="{4F526D3F-962C-44E2-B60A-3CD2595EA248}" srcOrd="1" destOrd="0" parTransId="{B8101CF8-64E8-4746-876A-4036644609F1}" sibTransId="{28751DD4-2C3D-459F-9348-D58761BFA11C}"/>
    <dgm:cxn modelId="{C8E4F563-53ED-4998-84D5-6578EB9D7782}" srcId="{EBC1140D-1584-417C-9ED1-45938E4747C8}" destId="{4901A49C-F313-4A8F-BDB8-A2D467C19D0B}" srcOrd="3" destOrd="0" parTransId="{0821E917-A9A9-4089-AD40-FADDFAAEAF11}" sibTransId="{17B63A1B-D954-4B47-83AF-D57AEA6CD6CB}"/>
    <dgm:cxn modelId="{9B99434C-EFB2-4A5C-B845-04FA4696062B}" srcId="{EBC1140D-1584-417C-9ED1-45938E4747C8}" destId="{4B438E06-C021-4779-8BC3-0D626205FDBF}" srcOrd="0" destOrd="0" parTransId="{553F67BE-9367-4FC5-8DCD-911FF6C6FF33}" sibTransId="{0DDFAA56-653B-4881-B82C-1D94345D97DA}"/>
    <dgm:cxn modelId="{1DA67F79-019D-4FCC-88C0-392FC6554EAA}" type="presOf" srcId="{EBC1140D-1584-417C-9ED1-45938E4747C8}" destId="{B6245CF7-7A50-42AE-B6DA-38DBE717C366}" srcOrd="0" destOrd="0" presId="urn:microsoft.com/office/officeart/2018/2/layout/IconVerticalSolidList"/>
    <dgm:cxn modelId="{9ED329C3-EA9B-4B0D-BCFC-2395583990C0}" srcId="{EBC1140D-1584-417C-9ED1-45938E4747C8}" destId="{2892B24F-0899-448C-A05B-8F73E1DBB28F}" srcOrd="2" destOrd="0" parTransId="{D0F82706-9D6A-43E8-AD2C-673BA8DBE703}" sibTransId="{0A765B25-FE3A-42EC-9CD3-5B8D6D6F3554}"/>
    <dgm:cxn modelId="{5E5735CE-C382-4F88-93A5-36128A27D98F}" type="presOf" srcId="{4901A49C-F313-4A8F-BDB8-A2D467C19D0B}" destId="{D1AFB651-60DB-4779-9B23-6603651DA48D}" srcOrd="0" destOrd="0" presId="urn:microsoft.com/office/officeart/2018/2/layout/IconVerticalSolidList"/>
    <dgm:cxn modelId="{2F5C6DEB-95A0-4ECF-96D3-B2211083A826}" type="presOf" srcId="{2892B24F-0899-448C-A05B-8F73E1DBB28F}" destId="{340DE9B4-81B3-46E8-8058-E0ED15EA839B}" srcOrd="0" destOrd="0" presId="urn:microsoft.com/office/officeart/2018/2/layout/IconVerticalSolidList"/>
    <dgm:cxn modelId="{0EB2F8EA-CB5A-4804-AB93-AD0089B8A2CB}" type="presParOf" srcId="{B6245CF7-7A50-42AE-B6DA-38DBE717C366}" destId="{02B82B58-24CB-484E-8928-9F7FD00CA381}" srcOrd="0" destOrd="0" presId="urn:microsoft.com/office/officeart/2018/2/layout/IconVerticalSolidList"/>
    <dgm:cxn modelId="{310A9B51-3128-43FA-9CBA-87DB73AF2545}" type="presParOf" srcId="{02B82B58-24CB-484E-8928-9F7FD00CA381}" destId="{2ED66B88-9B64-4B48-8114-30586B479116}" srcOrd="0" destOrd="0" presId="urn:microsoft.com/office/officeart/2018/2/layout/IconVerticalSolidList"/>
    <dgm:cxn modelId="{B0EDD824-5645-4F1C-AA11-E6CCBA57967E}" type="presParOf" srcId="{02B82B58-24CB-484E-8928-9F7FD00CA381}" destId="{F2F1E6FF-CC3E-4A76-93E8-3C98991506ED}" srcOrd="1" destOrd="0" presId="urn:microsoft.com/office/officeart/2018/2/layout/IconVerticalSolidList"/>
    <dgm:cxn modelId="{95B0B826-9B0A-4E91-869F-B356A1DD0793}" type="presParOf" srcId="{02B82B58-24CB-484E-8928-9F7FD00CA381}" destId="{DDC2D0F2-EA23-4953-978E-3439A5A0751C}" srcOrd="2" destOrd="0" presId="urn:microsoft.com/office/officeart/2018/2/layout/IconVerticalSolidList"/>
    <dgm:cxn modelId="{65FE5D42-92B1-4289-95F3-36429CEA33A3}" type="presParOf" srcId="{02B82B58-24CB-484E-8928-9F7FD00CA381}" destId="{A591ED90-5F8D-4BBB-A119-82D6DBF7E742}" srcOrd="3" destOrd="0" presId="urn:microsoft.com/office/officeart/2018/2/layout/IconVerticalSolidList"/>
    <dgm:cxn modelId="{8B167C5F-5CB0-484D-B5DF-AADEE4596EE4}" type="presParOf" srcId="{B6245CF7-7A50-42AE-B6DA-38DBE717C366}" destId="{8D34A617-AC8F-4251-8D32-29FE3207D740}" srcOrd="1" destOrd="0" presId="urn:microsoft.com/office/officeart/2018/2/layout/IconVerticalSolidList"/>
    <dgm:cxn modelId="{48BF7FA4-C57A-4619-8464-F72B1E619F43}" type="presParOf" srcId="{B6245CF7-7A50-42AE-B6DA-38DBE717C366}" destId="{C76124B9-E8F7-4F25-B14E-0C37F8CF7345}" srcOrd="2" destOrd="0" presId="urn:microsoft.com/office/officeart/2018/2/layout/IconVerticalSolidList"/>
    <dgm:cxn modelId="{3403BE42-E453-4086-A00B-1F73F8786DE2}" type="presParOf" srcId="{C76124B9-E8F7-4F25-B14E-0C37F8CF7345}" destId="{2698888E-EB62-4318-95AA-9D3A62CC9B81}" srcOrd="0" destOrd="0" presId="urn:microsoft.com/office/officeart/2018/2/layout/IconVerticalSolidList"/>
    <dgm:cxn modelId="{D1DC9AD5-C044-4117-A0A0-D256D7150056}" type="presParOf" srcId="{C76124B9-E8F7-4F25-B14E-0C37F8CF7345}" destId="{5A79CF2E-2C89-4DFA-9F49-CC7CC7197D54}" srcOrd="1" destOrd="0" presId="urn:microsoft.com/office/officeart/2018/2/layout/IconVerticalSolidList"/>
    <dgm:cxn modelId="{E7846946-5D99-4926-8978-005AB896376A}" type="presParOf" srcId="{C76124B9-E8F7-4F25-B14E-0C37F8CF7345}" destId="{04E6F794-EF72-4EE4-8081-C5E36C39CB2C}" srcOrd="2" destOrd="0" presId="urn:microsoft.com/office/officeart/2018/2/layout/IconVerticalSolidList"/>
    <dgm:cxn modelId="{B38A5321-4880-42A9-AAF0-ABE9F1BF44E5}" type="presParOf" srcId="{C76124B9-E8F7-4F25-B14E-0C37F8CF7345}" destId="{02F15EA7-2831-4AAC-AC3B-876B8E254488}" srcOrd="3" destOrd="0" presId="urn:microsoft.com/office/officeart/2018/2/layout/IconVerticalSolidList"/>
    <dgm:cxn modelId="{96A864D3-B8E0-460C-8CFA-ED399D29B332}" type="presParOf" srcId="{B6245CF7-7A50-42AE-B6DA-38DBE717C366}" destId="{794C2AFB-382E-46D6-8346-89CAFC382C60}" srcOrd="3" destOrd="0" presId="urn:microsoft.com/office/officeart/2018/2/layout/IconVerticalSolidList"/>
    <dgm:cxn modelId="{10B1EF25-DF2C-48C2-9080-3842325E4DDC}" type="presParOf" srcId="{B6245CF7-7A50-42AE-B6DA-38DBE717C366}" destId="{0FC0C08B-1F7A-4D6F-870D-BCC89C40F1D0}" srcOrd="4" destOrd="0" presId="urn:microsoft.com/office/officeart/2018/2/layout/IconVerticalSolidList"/>
    <dgm:cxn modelId="{70C7B121-DD32-4A6B-ADD5-949B1A8662ED}" type="presParOf" srcId="{0FC0C08B-1F7A-4D6F-870D-BCC89C40F1D0}" destId="{3DF78BAB-9CBB-4C8A-B604-721A13330097}" srcOrd="0" destOrd="0" presId="urn:microsoft.com/office/officeart/2018/2/layout/IconVerticalSolidList"/>
    <dgm:cxn modelId="{0516F35B-27A7-4B79-9C2D-74C11758ABBA}" type="presParOf" srcId="{0FC0C08B-1F7A-4D6F-870D-BCC89C40F1D0}" destId="{341F8D77-1031-4FC0-9EEA-248D13A7EF24}" srcOrd="1" destOrd="0" presId="urn:microsoft.com/office/officeart/2018/2/layout/IconVerticalSolidList"/>
    <dgm:cxn modelId="{F617450D-822A-4FA8-A1D0-9A9B715F90C0}" type="presParOf" srcId="{0FC0C08B-1F7A-4D6F-870D-BCC89C40F1D0}" destId="{5B836A30-592D-4CEF-9678-73FE4711E2A0}" srcOrd="2" destOrd="0" presId="urn:microsoft.com/office/officeart/2018/2/layout/IconVerticalSolidList"/>
    <dgm:cxn modelId="{82008D6F-4367-4DE5-9B73-293622FFF258}" type="presParOf" srcId="{0FC0C08B-1F7A-4D6F-870D-BCC89C40F1D0}" destId="{340DE9B4-81B3-46E8-8058-E0ED15EA839B}" srcOrd="3" destOrd="0" presId="urn:microsoft.com/office/officeart/2018/2/layout/IconVerticalSolidList"/>
    <dgm:cxn modelId="{B6885303-27E2-4E1A-8605-FC9385687F03}" type="presParOf" srcId="{B6245CF7-7A50-42AE-B6DA-38DBE717C366}" destId="{3B84FCB7-1CBF-49D4-8ECC-430CAD422296}" srcOrd="5" destOrd="0" presId="urn:microsoft.com/office/officeart/2018/2/layout/IconVerticalSolidList"/>
    <dgm:cxn modelId="{1E1FE84E-7057-4484-90C5-9FEC19860526}" type="presParOf" srcId="{B6245CF7-7A50-42AE-B6DA-38DBE717C366}" destId="{B987B3EA-6309-4DE0-9FA1-E7AC2AAC0505}" srcOrd="6" destOrd="0" presId="urn:microsoft.com/office/officeart/2018/2/layout/IconVerticalSolidList"/>
    <dgm:cxn modelId="{116A3125-4163-4861-85DC-1A50070500CE}" type="presParOf" srcId="{B987B3EA-6309-4DE0-9FA1-E7AC2AAC0505}" destId="{B2182745-2B8C-4E81-8DE9-EA723A8B4B6F}" srcOrd="0" destOrd="0" presId="urn:microsoft.com/office/officeart/2018/2/layout/IconVerticalSolidList"/>
    <dgm:cxn modelId="{A214771D-5B5A-43A2-9DA5-4406A2A4F913}" type="presParOf" srcId="{B987B3EA-6309-4DE0-9FA1-E7AC2AAC0505}" destId="{359296A1-C2E0-4E42-A523-B1B42EC95853}" srcOrd="1" destOrd="0" presId="urn:microsoft.com/office/officeart/2018/2/layout/IconVerticalSolidList"/>
    <dgm:cxn modelId="{0D962747-A6A1-4544-9E1C-6C8CC4809472}" type="presParOf" srcId="{B987B3EA-6309-4DE0-9FA1-E7AC2AAC0505}" destId="{80897618-805D-450F-8B10-A756251A7CE1}" srcOrd="2" destOrd="0" presId="urn:microsoft.com/office/officeart/2018/2/layout/IconVerticalSolidList"/>
    <dgm:cxn modelId="{76B90D09-22E1-4CBF-BF6A-CAEDD65019C0}" type="presParOf" srcId="{B987B3EA-6309-4DE0-9FA1-E7AC2AAC0505}" destId="{D1AFB651-60DB-4779-9B23-6603651DA4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A00B6F-7748-4021-8CBE-B70F28145503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4EA3494-8ABE-4661-8BF7-7BF10B8B7326}">
      <dgm:prSet/>
      <dgm:spPr/>
      <dgm:t>
        <a:bodyPr/>
        <a:lstStyle/>
        <a:p>
          <a:r>
            <a:rPr lang="en-US"/>
            <a:t>Placebos:</a:t>
          </a:r>
        </a:p>
      </dgm:t>
    </dgm:pt>
    <dgm:pt modelId="{FDB470B4-63D1-4BBF-99B5-52B0CC43B1FA}" type="parTrans" cxnId="{5CDD35C7-4A8F-43EA-AC4C-BA795DD0D804}">
      <dgm:prSet/>
      <dgm:spPr/>
      <dgm:t>
        <a:bodyPr/>
        <a:lstStyle/>
        <a:p>
          <a:endParaRPr lang="en-US"/>
        </a:p>
      </dgm:t>
    </dgm:pt>
    <dgm:pt modelId="{9DF5236D-61BE-4FEA-978E-B7032F221FB1}" type="sibTrans" cxnId="{5CDD35C7-4A8F-43EA-AC4C-BA795DD0D804}">
      <dgm:prSet/>
      <dgm:spPr/>
      <dgm:t>
        <a:bodyPr/>
        <a:lstStyle/>
        <a:p>
          <a:endParaRPr lang="en-US"/>
        </a:p>
      </dgm:t>
    </dgm:pt>
    <dgm:pt modelId="{4705A95E-9C3F-48FF-9E80-029A0276BDC1}">
      <dgm:prSet/>
      <dgm:spPr/>
      <dgm:t>
        <a:bodyPr/>
        <a:lstStyle/>
        <a:p>
          <a:r>
            <a:rPr lang="en-US" dirty="0"/>
            <a:t>I don’t have a lot of pre-trend years, so I am searching for an outcome placebo (something completely exogenous)</a:t>
          </a:r>
        </a:p>
      </dgm:t>
    </dgm:pt>
    <dgm:pt modelId="{8127286B-A023-49EF-BC10-202202C0A1FA}" type="parTrans" cxnId="{45D64D4E-CD9A-436E-A722-5EF31B300F0F}">
      <dgm:prSet/>
      <dgm:spPr/>
      <dgm:t>
        <a:bodyPr/>
        <a:lstStyle/>
        <a:p>
          <a:endParaRPr lang="en-US"/>
        </a:p>
      </dgm:t>
    </dgm:pt>
    <dgm:pt modelId="{A81FE0A7-01D5-4E7B-916E-7825F4099A77}" type="sibTrans" cxnId="{45D64D4E-CD9A-436E-A722-5EF31B300F0F}">
      <dgm:prSet/>
      <dgm:spPr/>
      <dgm:t>
        <a:bodyPr/>
        <a:lstStyle/>
        <a:p>
          <a:endParaRPr lang="en-US"/>
        </a:p>
      </dgm:t>
    </dgm:pt>
    <dgm:pt modelId="{11A74FDC-CF29-4E33-BAD6-CD5B83A480DF}">
      <dgm:prSet custT="1"/>
      <dgm:spPr/>
      <dgm:t>
        <a:bodyPr/>
        <a:lstStyle/>
        <a:p>
          <a:r>
            <a:rPr lang="en-US" sz="2200" dirty="0"/>
            <a:t>Pre-trend falsifications all pass (not shown), all treatments not statistically significant</a:t>
          </a:r>
        </a:p>
      </dgm:t>
    </dgm:pt>
    <dgm:pt modelId="{404F5362-4062-4651-AE5C-6AD1B6F21B1B}" type="parTrans" cxnId="{4EE54E5D-D970-4449-912E-D28967631566}">
      <dgm:prSet/>
      <dgm:spPr/>
      <dgm:t>
        <a:bodyPr/>
        <a:lstStyle/>
        <a:p>
          <a:endParaRPr lang="en-US"/>
        </a:p>
      </dgm:t>
    </dgm:pt>
    <dgm:pt modelId="{0A021FA8-318E-44CA-88AE-E9ECE2EAD305}" type="sibTrans" cxnId="{4EE54E5D-D970-4449-912E-D28967631566}">
      <dgm:prSet/>
      <dgm:spPr/>
      <dgm:t>
        <a:bodyPr/>
        <a:lstStyle/>
        <a:p>
          <a:endParaRPr lang="en-US"/>
        </a:p>
      </dgm:t>
    </dgm:pt>
    <dgm:pt modelId="{EC29D6F8-03C2-429C-8F57-A366D253FE7D}">
      <dgm:prSet custT="1"/>
      <dgm:spPr/>
      <dgm:t>
        <a:bodyPr/>
        <a:lstStyle/>
        <a:p>
          <a:r>
            <a:rPr lang="en-US" sz="2200" dirty="0"/>
            <a:t>Varying θ</a:t>
          </a:r>
        </a:p>
      </dgm:t>
    </dgm:pt>
    <dgm:pt modelId="{6DBE0427-38B4-4BEE-A8D3-8BDB61125C2E}" type="parTrans" cxnId="{2A6D466A-3919-48CF-A4BB-A2826A8B923B}">
      <dgm:prSet/>
      <dgm:spPr/>
      <dgm:t>
        <a:bodyPr/>
        <a:lstStyle/>
        <a:p>
          <a:endParaRPr lang="en-US"/>
        </a:p>
      </dgm:t>
    </dgm:pt>
    <dgm:pt modelId="{91AB9A4C-E9B3-416A-9343-01FE8B149610}" type="sibTrans" cxnId="{2A6D466A-3919-48CF-A4BB-A2826A8B923B}">
      <dgm:prSet/>
      <dgm:spPr/>
      <dgm:t>
        <a:bodyPr/>
        <a:lstStyle/>
        <a:p>
          <a:endParaRPr lang="en-US"/>
        </a:p>
      </dgm:t>
    </dgm:pt>
    <dgm:pt modelId="{4A6D5FDA-3ED3-46E1-9C9B-FFA12C285E4B}" type="pres">
      <dgm:prSet presAssocID="{31A00B6F-7748-4021-8CBE-B70F28145503}" presName="Name0" presStyleCnt="0">
        <dgm:presLayoutVars>
          <dgm:dir/>
          <dgm:resizeHandles val="exact"/>
        </dgm:presLayoutVars>
      </dgm:prSet>
      <dgm:spPr/>
    </dgm:pt>
    <dgm:pt modelId="{BA01F94E-19AE-45D4-BDB8-92D6F298C261}" type="pres">
      <dgm:prSet presAssocID="{04EA3494-8ABE-4661-8BF7-7BF10B8B7326}" presName="parAndChTx" presStyleLbl="node1" presStyleIdx="0" presStyleCnt="3">
        <dgm:presLayoutVars>
          <dgm:bulletEnabled val="1"/>
        </dgm:presLayoutVars>
      </dgm:prSet>
      <dgm:spPr/>
    </dgm:pt>
    <dgm:pt modelId="{BCBF9687-39E8-40BC-B002-AE0981BDD794}" type="pres">
      <dgm:prSet presAssocID="{9DF5236D-61BE-4FEA-978E-B7032F221FB1}" presName="parAndChSpace" presStyleCnt="0"/>
      <dgm:spPr/>
    </dgm:pt>
    <dgm:pt modelId="{8091DF0D-70C4-4A0F-BEF3-6098C9CEA392}" type="pres">
      <dgm:prSet presAssocID="{11A74FDC-CF29-4E33-BAD6-CD5B83A480DF}" presName="parAndChTx" presStyleLbl="node1" presStyleIdx="1" presStyleCnt="3">
        <dgm:presLayoutVars>
          <dgm:bulletEnabled val="1"/>
        </dgm:presLayoutVars>
      </dgm:prSet>
      <dgm:spPr/>
    </dgm:pt>
    <dgm:pt modelId="{2A488CE4-C17A-4376-B6FC-34D03093EB5E}" type="pres">
      <dgm:prSet presAssocID="{0A021FA8-318E-44CA-88AE-E9ECE2EAD305}" presName="parAndChSpace" presStyleCnt="0"/>
      <dgm:spPr/>
    </dgm:pt>
    <dgm:pt modelId="{DD5B91E9-0D98-4BB6-A433-F600B7A45386}" type="pres">
      <dgm:prSet presAssocID="{EC29D6F8-03C2-429C-8F57-A366D253FE7D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D9E8BD1B-EDE7-4EF6-83B0-C63F8FE39C14}" type="presOf" srcId="{4705A95E-9C3F-48FF-9E80-029A0276BDC1}" destId="{BA01F94E-19AE-45D4-BDB8-92D6F298C261}" srcOrd="0" destOrd="1" presId="urn:microsoft.com/office/officeart/2005/8/layout/hChevron3"/>
    <dgm:cxn modelId="{4EE54E5D-D970-4449-912E-D28967631566}" srcId="{31A00B6F-7748-4021-8CBE-B70F28145503}" destId="{11A74FDC-CF29-4E33-BAD6-CD5B83A480DF}" srcOrd="1" destOrd="0" parTransId="{404F5362-4062-4651-AE5C-6AD1B6F21B1B}" sibTransId="{0A021FA8-318E-44CA-88AE-E9ECE2EAD305}"/>
    <dgm:cxn modelId="{2A6D466A-3919-48CF-A4BB-A2826A8B923B}" srcId="{31A00B6F-7748-4021-8CBE-B70F28145503}" destId="{EC29D6F8-03C2-429C-8F57-A366D253FE7D}" srcOrd="2" destOrd="0" parTransId="{6DBE0427-38B4-4BEE-A8D3-8BDB61125C2E}" sibTransId="{91AB9A4C-E9B3-416A-9343-01FE8B149610}"/>
    <dgm:cxn modelId="{7192F44D-F3BC-498A-B0FC-55DED2AE99B9}" type="presOf" srcId="{31A00B6F-7748-4021-8CBE-B70F28145503}" destId="{4A6D5FDA-3ED3-46E1-9C9B-FFA12C285E4B}" srcOrd="0" destOrd="0" presId="urn:microsoft.com/office/officeart/2005/8/layout/hChevron3"/>
    <dgm:cxn modelId="{45D64D4E-CD9A-436E-A722-5EF31B300F0F}" srcId="{04EA3494-8ABE-4661-8BF7-7BF10B8B7326}" destId="{4705A95E-9C3F-48FF-9E80-029A0276BDC1}" srcOrd="0" destOrd="0" parTransId="{8127286B-A023-49EF-BC10-202202C0A1FA}" sibTransId="{A81FE0A7-01D5-4E7B-916E-7825F4099A77}"/>
    <dgm:cxn modelId="{8D73CD7A-F933-4D20-A848-868F2FFA11BC}" type="presOf" srcId="{11A74FDC-CF29-4E33-BAD6-CD5B83A480DF}" destId="{8091DF0D-70C4-4A0F-BEF3-6098C9CEA392}" srcOrd="0" destOrd="0" presId="urn:microsoft.com/office/officeart/2005/8/layout/hChevron3"/>
    <dgm:cxn modelId="{D54C48BB-B577-4ABA-8E35-6771149F13F8}" type="presOf" srcId="{04EA3494-8ABE-4661-8BF7-7BF10B8B7326}" destId="{BA01F94E-19AE-45D4-BDB8-92D6F298C261}" srcOrd="0" destOrd="0" presId="urn:microsoft.com/office/officeart/2005/8/layout/hChevron3"/>
    <dgm:cxn modelId="{5CDD35C7-4A8F-43EA-AC4C-BA795DD0D804}" srcId="{31A00B6F-7748-4021-8CBE-B70F28145503}" destId="{04EA3494-8ABE-4661-8BF7-7BF10B8B7326}" srcOrd="0" destOrd="0" parTransId="{FDB470B4-63D1-4BBF-99B5-52B0CC43B1FA}" sibTransId="{9DF5236D-61BE-4FEA-978E-B7032F221FB1}"/>
    <dgm:cxn modelId="{CC54CFDC-4A2E-4AD9-A584-B7357EED8EDC}" type="presOf" srcId="{EC29D6F8-03C2-429C-8F57-A366D253FE7D}" destId="{DD5B91E9-0D98-4BB6-A433-F600B7A45386}" srcOrd="0" destOrd="0" presId="urn:microsoft.com/office/officeart/2005/8/layout/hChevron3"/>
    <dgm:cxn modelId="{700F2920-C2E8-494E-B993-28023402F436}" type="presParOf" srcId="{4A6D5FDA-3ED3-46E1-9C9B-FFA12C285E4B}" destId="{BA01F94E-19AE-45D4-BDB8-92D6F298C261}" srcOrd="0" destOrd="0" presId="urn:microsoft.com/office/officeart/2005/8/layout/hChevron3"/>
    <dgm:cxn modelId="{35E4CA27-4FF8-420D-9BEF-F875CD59195B}" type="presParOf" srcId="{4A6D5FDA-3ED3-46E1-9C9B-FFA12C285E4B}" destId="{BCBF9687-39E8-40BC-B002-AE0981BDD794}" srcOrd="1" destOrd="0" presId="urn:microsoft.com/office/officeart/2005/8/layout/hChevron3"/>
    <dgm:cxn modelId="{A0EA257D-6F1D-4D14-86A5-31E1F1D9BF7C}" type="presParOf" srcId="{4A6D5FDA-3ED3-46E1-9C9B-FFA12C285E4B}" destId="{8091DF0D-70C4-4A0F-BEF3-6098C9CEA392}" srcOrd="2" destOrd="0" presId="urn:microsoft.com/office/officeart/2005/8/layout/hChevron3"/>
    <dgm:cxn modelId="{917C8394-D376-447E-AA93-2C8E009E3FD9}" type="presParOf" srcId="{4A6D5FDA-3ED3-46E1-9C9B-FFA12C285E4B}" destId="{2A488CE4-C17A-4376-B6FC-34D03093EB5E}" srcOrd="3" destOrd="0" presId="urn:microsoft.com/office/officeart/2005/8/layout/hChevron3"/>
    <dgm:cxn modelId="{639B32DE-EA44-49DB-9598-ABC61CF964D0}" type="presParOf" srcId="{4A6D5FDA-3ED3-46E1-9C9B-FFA12C285E4B}" destId="{DD5B91E9-0D98-4BB6-A433-F600B7A45386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66B88-9B64-4B48-8114-30586B479116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1E6FF-CC3E-4A76-93E8-3C98991506ED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1ED90-5F8D-4BBB-A119-82D6DBF7E742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 2008, Food Stamps were renamed to be the Supplemental Nutrition Assistance Program.</a:t>
          </a:r>
        </a:p>
      </dsp:txBody>
      <dsp:txXfrm>
        <a:off x="1058686" y="1808"/>
        <a:ext cx="9456913" cy="916611"/>
      </dsp:txXfrm>
    </dsp:sp>
    <dsp:sp modelId="{2698888E-EB62-4318-95AA-9D3A62CC9B81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79CF2E-2C89-4DFA-9F49-CC7CC7197D54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15EA7-2831-4AAC-AC3B-876B8E254488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 2009, post 2008 crisis, the American Recovery and Reinvestment Act of 2009 (ARRA) gave an $831B stimulus package, 40B of which was in SNAP stimulus.</a:t>
          </a:r>
        </a:p>
      </dsp:txBody>
      <dsp:txXfrm>
        <a:off x="1058686" y="1147573"/>
        <a:ext cx="9456913" cy="916611"/>
      </dsp:txXfrm>
    </dsp:sp>
    <dsp:sp modelId="{3DF78BAB-9CBB-4C8A-B604-721A13330097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F8D77-1031-4FC0-9EEA-248D13A7EF24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DE9B4-81B3-46E8-8058-E0ED15EA839B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 ended 2013 (~November) because of the Healthy Hunger-Free Kids Act which drew more resources, ending the program earlier than expected (2014).</a:t>
          </a:r>
        </a:p>
      </dsp:txBody>
      <dsp:txXfrm>
        <a:off x="1058686" y="2293338"/>
        <a:ext cx="9456913" cy="916611"/>
      </dsp:txXfrm>
    </dsp:sp>
    <dsp:sp modelId="{B2182745-2B8C-4E81-8DE9-EA723A8B4B6F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296A1-C2E0-4E42-A523-B1B42EC95853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FB651-60DB-4779-9B23-6603651DA48D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Benefits per household reduced in the high single digits (7-8%).</a:t>
          </a:r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1F94E-19AE-45D4-BDB8-92D6F298C261}">
      <dsp:nvSpPr>
        <dsp:cNvPr id="0" name=""/>
        <dsp:cNvSpPr/>
      </dsp:nvSpPr>
      <dsp:spPr>
        <a:xfrm>
          <a:off x="4802" y="164975"/>
          <a:ext cx="4199317" cy="3359453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81280" rIns="592570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Placebos: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I don’t have a lot of pre-trend years, so I am searching for an outcome placebo (something completely exogenous)</a:t>
          </a:r>
        </a:p>
      </dsp:txBody>
      <dsp:txXfrm>
        <a:off x="4802" y="164975"/>
        <a:ext cx="3779385" cy="3359453"/>
      </dsp:txXfrm>
    </dsp:sp>
    <dsp:sp modelId="{8091DF0D-70C4-4A0F-BEF3-6098C9CEA392}">
      <dsp:nvSpPr>
        <dsp:cNvPr id="0" name=""/>
        <dsp:cNvSpPr/>
      </dsp:nvSpPr>
      <dsp:spPr>
        <a:xfrm>
          <a:off x="3364255" y="164975"/>
          <a:ext cx="4199317" cy="3359453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55880" rIns="148143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Pre-trend falsifications all pass (not shown), all treatments not statistically significant</a:t>
          </a:r>
        </a:p>
      </dsp:txBody>
      <dsp:txXfrm>
        <a:off x="4204118" y="164975"/>
        <a:ext cx="2519591" cy="3359453"/>
      </dsp:txXfrm>
    </dsp:sp>
    <dsp:sp modelId="{DD5B91E9-0D98-4BB6-A433-F600B7A45386}">
      <dsp:nvSpPr>
        <dsp:cNvPr id="0" name=""/>
        <dsp:cNvSpPr/>
      </dsp:nvSpPr>
      <dsp:spPr>
        <a:xfrm>
          <a:off x="6723709" y="164975"/>
          <a:ext cx="4199317" cy="3359453"/>
        </a:xfrm>
        <a:prstGeom prst="chevron">
          <a:avLst>
            <a:gd name="adj" fmla="val 2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55880" rIns="148143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Varying θ</a:t>
          </a:r>
        </a:p>
      </dsp:txBody>
      <dsp:txXfrm>
        <a:off x="7563572" y="164975"/>
        <a:ext cx="2519591" cy="335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DD6E-47FE-4983-6524-409814A4B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0BF71-98B2-144B-05CA-8A622DC64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7BBD4-6312-3A4A-ECF2-B550868F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8E50C-2867-2AD7-974E-A3217D23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CDA13-1A9E-AD73-E8EC-A7181023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5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AD95-61A2-8F3B-0A24-8484D55F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C6D1-DB17-A387-4AD4-CF5D6192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206F9-2B81-CA0E-6FA4-F5B38DEF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36DC2-1D94-F860-59A6-B831FA82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10A3-2EA5-0EF0-6824-73091702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D691-05B6-F234-D6C9-EE7C635F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BCF0F-0ED0-650C-0546-26B7C2D94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A705-E947-BBA4-A73F-63BC766F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6046-7972-0416-C5E5-159B1040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7A867-A8E5-8C15-C15B-BA3593E1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0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28DC-4419-F33D-AD1A-24BC0973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FC9D-07A3-1180-70CC-A9CBAFDC9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85883-6F0F-A7EC-22ED-E27611AB3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90E3D-A376-BA97-7C22-4275CD1D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3E087-4912-9CCD-8020-B497AE99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B9197-3044-21B6-94FE-AE7BDB1D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B76-8788-3AE1-D162-94BD1940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D643E-2B82-D223-90F2-A2DB8E382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DDF34-86F8-A93F-DF49-5D4EF8A36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7084A-70F8-1942-EEC2-9D7C65889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08455-674D-F02C-A2AD-453A978AE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0C92B-4FE3-EC7F-41D9-07DD5147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40767-55F5-287B-2383-483B7C39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E4D14-3A40-752E-B821-B1D4D278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15C0-D1D4-2480-BD94-20ED09F4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48F4B-5F8E-D4F9-A0D2-ABBF4E84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DA492-66D6-18A5-CEFE-39790549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BF02-9636-92DE-5117-9C92BF1B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4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0D77DE-DD30-4B02-96AF-E9E4EBAA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46140-E459-9E58-893F-44B9216E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BC650-A657-7927-5B3C-F7855EB1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7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DCFB-6E32-1560-BD44-C7DF3039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20359-619F-C5B1-C46B-5EBFD73CE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1C26E-0323-B344-7738-177E9E3B6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87D03-B099-E1E4-ACDC-67384AD4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0E95B-D891-3594-FFAB-36BC7596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70000-F719-E17B-79CF-BEB952F6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4E46-C8BD-11AF-16A3-D907DDB6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0EDA2B-AE32-EF47-2776-C83BA04A8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AD1F0-C975-932A-9AD1-3E71A2691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73F3F-1012-5CF5-1458-94DD95FD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8DFF-009C-677C-500F-AD42E427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FBE1E-7AD0-C1D6-E582-85FF0185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9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9A30-E9B3-9A77-C31F-C75D77E2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6AFFC-715D-8355-3B84-1E1039F26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0BFE-F3CF-F02F-FE8E-52684DFF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A3EE2-E4CE-72B2-1476-E777712C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CA0C9-2FA7-578B-0989-84C12D32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4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FDBBA-46E7-85C3-13C3-E7DAB3960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F6575-55CE-75F5-6302-E326EC038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AB63F-26B2-B4E8-3379-916A5777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D53D3-B26D-EC0B-943C-D4E90F74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02BD-8D73-9138-57F6-15D7C326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7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FBBA8-26F5-3207-FDBD-AA8C7EF9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C8E33-C06D-8B76-2794-AE0990109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6D654-55FB-6D75-F7B1-FD1172B29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2A3D1-B52A-407B-BE69-8C9F0D502E36}" type="datetimeFigureOut">
              <a:rPr lang="en-US" smtClean="0"/>
              <a:t>05-Jun-26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80622-2B4E-3CBF-83CA-582B3B1D6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3BBAE-DDCE-E4AD-B7F0-010B1ED3A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A2DF2-AD5F-4935-BDB5-4E11125B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2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112F9-4C57-A4D5-F30F-CE7D1B21B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ARRA Event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A013E-C125-BCF0-0AC0-8EFA9E0B0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Ata G</a:t>
            </a:r>
            <a:r>
              <a:rPr lang="tr-TR" sz="2000">
                <a:solidFill>
                  <a:srgbClr val="FFFFFF"/>
                </a:solidFill>
              </a:rPr>
              <a:t>ü</a:t>
            </a:r>
            <a:r>
              <a:rPr lang="en-US" sz="2000">
                <a:solidFill>
                  <a:srgbClr val="FFFFFF"/>
                </a:solidFill>
              </a:rPr>
              <a:t>vendi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81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95B05-4B3D-6F44-6B05-CB15A957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The 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281964-B76C-AB0C-721B-8F48F8F18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13974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152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B3393-9C00-BD66-FC24-CBDCD294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4B4B-F762-F0AE-C6DB-B391A83E2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 merge 4 panels (county x year):</a:t>
            </a:r>
          </a:p>
          <a:p>
            <a:pPr lvl="1"/>
            <a:r>
              <a:rPr lang="en-US" dirty="0"/>
              <a:t>ACS (American Community Survey Data): Records SNAP utilization percentage</a:t>
            </a:r>
          </a:p>
          <a:p>
            <a:pPr lvl="1"/>
            <a:r>
              <a:rPr lang="en-US" dirty="0"/>
              <a:t>SAIPE (Small Income and Poverty Estimates):</a:t>
            </a:r>
          </a:p>
          <a:p>
            <a:pPr lvl="2"/>
            <a:r>
              <a:rPr lang="en-US" dirty="0"/>
              <a:t>Poverty percentages (all, children etc.), median household income</a:t>
            </a:r>
          </a:p>
          <a:p>
            <a:pPr lvl="1"/>
            <a:r>
              <a:rPr lang="en-US" dirty="0"/>
              <a:t>LAUS (Local Area Unemployment Statistics): Unemployment rate, labor force count</a:t>
            </a:r>
          </a:p>
          <a:p>
            <a:pPr lvl="1"/>
            <a:r>
              <a:rPr lang="en-US" dirty="0"/>
              <a:t>MMG (Map the Meal Gap): Data retained by Feeding America (NGO). See next slide.</a:t>
            </a:r>
          </a:p>
          <a:p>
            <a:r>
              <a:rPr lang="en-US" dirty="0"/>
              <a:t>Data Ranges: 2010-2017, 816 counties (&lt;7 observation counties excluded)</a:t>
            </a:r>
          </a:p>
        </p:txBody>
      </p:sp>
    </p:spTree>
    <p:extLst>
      <p:ext uri="{BB962C8B-B14F-4D97-AF65-F5344CB8AC3E}">
        <p14:creationId xmlns:p14="http://schemas.microsoft.com/office/powerpoint/2010/main" val="421279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C48AD-04D8-DB94-F506-97EB0FB0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MMG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9ADE9-9D4B-E032-10C5-2A3E927256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Contains these markers:</a:t>
                </a:r>
              </a:p>
              <a:p>
                <a:pPr lvl="1"/>
                <a:r>
                  <a:rPr lang="en-US" dirty="0"/>
                  <a:t>Number of Food Insecure (FI) and Rate</a:t>
                </a:r>
              </a:p>
              <a:p>
                <a:pPr lvl="1"/>
                <a:r>
                  <a:rPr lang="en-US" dirty="0"/>
                  <a:t>Children FI and Rate</a:t>
                </a:r>
              </a:p>
              <a:p>
                <a:pPr lvl="1"/>
                <a:r>
                  <a:rPr lang="en-US" dirty="0"/>
                  <a:t>Cost per Meal ($)</a:t>
                </a:r>
              </a:p>
              <a:p>
                <a:pPr lvl="1"/>
                <a:r>
                  <a:rPr lang="en-US" dirty="0"/>
                  <a:t>Weighted Annual Food Budget Shortfall (WAFBS)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𝑆h𝑜𝑟𝑡𝑓𝑎𝑙𝑙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𝑈𝑆𝐷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∗52 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lvl="2"/>
                <a:r>
                  <a:rPr lang="en-US" b="0" dirty="0"/>
                  <a:t>7/12 factor motivated by  </a:t>
                </a:r>
                <a:r>
                  <a:rPr lang="en-US" dirty="0"/>
                  <a:t>Household Food Security in the United States in 2023 (Rabbitt et al., 2024).</a:t>
                </a:r>
              </a:p>
              <a:p>
                <a:pPr lvl="2"/>
                <a:r>
                  <a:rPr lang="en-US" b="0" dirty="0"/>
                  <a:t>“Weighted by the national “cost of food index”.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9ADE9-9D4B-E032-10C5-2A3E92725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7308" y="591344"/>
                <a:ext cx="6906491" cy="5585619"/>
              </a:xfrm>
              <a:blipFill>
                <a:blip r:embed="rId2"/>
                <a:stretch>
                  <a:fillRect l="-1590" r="-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15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D7B24-5367-5D1C-D3D0-26A1FF0C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Treatment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3BFA3C-CBA1-646D-F87C-3813E6F39A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conform to the binary treatment setup, I define counties that are more intense in SNAP usage as the ones that are treated, because they are likely to feel the more pronounced effect of the cut.</a:t>
                </a:r>
              </a:p>
              <a:p>
                <a:r>
                  <a:rPr lang="en-US" dirty="0"/>
                  <a:t>Define cutoff parameter θ in [0,1], where: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1{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SNAP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m:rPr>
                          <m:nor/>
                        </m:rPr>
                        <a:rPr lang="en-US" dirty="0" smtClean="0"/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3BFA3C-CBA1-646D-F87C-3813E6F39A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56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BB007-D061-B02D-80EF-F7F40605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89DF8-E91F-4D36-126A-EA598268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Design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5255-B816-8FA7-6B73-11CBB9385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Using standard </a:t>
            </a:r>
            <a:r>
              <a:rPr lang="en-US" dirty="0" err="1"/>
              <a:t>DiD</a:t>
            </a:r>
            <a:r>
              <a:rPr lang="en-US" dirty="0"/>
              <a:t> Event Study (no pooling at end years)</a:t>
            </a:r>
          </a:p>
          <a:p>
            <a:r>
              <a:rPr lang="en-US" dirty="0"/>
              <a:t>Drop 2012 for multicollinearity, index years:</a:t>
            </a:r>
          </a:p>
          <a:p>
            <a:pPr lvl="1"/>
            <a:r>
              <a:rPr lang="en-US" dirty="0"/>
              <a:t>-3 = 2010</a:t>
            </a:r>
          </a:p>
          <a:p>
            <a:pPr lvl="1"/>
            <a:r>
              <a:rPr lang="en-US" dirty="0"/>
              <a:t>0 = 2013 (partially treated year, recall November Cutoff)</a:t>
            </a:r>
          </a:p>
          <a:p>
            <a:pPr lvl="1"/>
            <a:r>
              <a:rPr lang="en-US" dirty="0"/>
              <a:t>4 = 2017</a:t>
            </a:r>
          </a:p>
          <a:p>
            <a:r>
              <a:rPr lang="en-US" dirty="0"/>
              <a:t>Use TWFE with treatment dummies τ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641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3CE30A-E32B-A4F7-B80E-7C786EC2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 Preset TWFE Regressions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5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5B663-AB2E-30A0-B948-E44239837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Per Meal ($)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7C0B6-662C-F922-E0EA-543ECB6C6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396204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[Unemployment Rate (%)]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E9242-5893-CB71-642D-BE541477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7A5BCE-C051-E762-4D77-79A53C938684}"/>
              </a:ext>
            </a:extLst>
          </p:cNvPr>
          <p:cNvSpPr/>
          <p:nvPr/>
        </p:nvSpPr>
        <p:spPr>
          <a:xfrm>
            <a:off x="3657600" y="3329939"/>
            <a:ext cx="1122630" cy="2310369"/>
          </a:xfrm>
          <a:prstGeom prst="rec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7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6D4CD-5440-E2DA-7FE9-56E998C3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B9192-738D-ED17-5B31-4DD12D069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13ED-357C-CA1A-DF57-2885C0E4D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396204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[Unemployment Rate (%)]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745DE-C9AB-F0A4-03BC-D3A62D4D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29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9F838-E21C-F437-5674-9D64928EC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E4FA4-84FA-CAD5-FCF8-CACDA464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Num FI Persons</a:t>
            </a:r>
            <a:endParaRPr lang="en-US" sz="6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1B56-DD55-CE9C-271F-4910777B6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396204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[Unemployment Rate (%)]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15BF9-9F1F-2725-A69F-954C63D6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29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41439-B2C1-E5BA-5228-97F292F9A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Side By Side: What is Increasing?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6FE5C6-8201-0716-050F-145621503BC3}"/>
                  </a:ext>
                </a:extLst>
              </p:cNvPr>
              <p:cNvSpPr txBox="1"/>
              <p:nvPr/>
            </p:nvSpPr>
            <p:spPr>
              <a:xfrm>
                <a:off x="638881" y="1922561"/>
                <a:ext cx="10909643" cy="55265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700" b="0" i="1" smtClean="0">
                          <a:latin typeface="Cambria Math" panose="02040503050406030204" pitchFamily="18" charset="0"/>
                        </a:rPr>
                        <m:t>WAFBS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b="0" i="1">
                          <a:latin typeface="Cambria Math" panose="02040503050406030204" pitchFamily="18" charset="0"/>
                        </a:rPr>
                        <m:t>𝐹𝐼</m:t>
                      </m:r>
                      <m:r>
                        <a:rPr lang="en-US" sz="1700" b="0" i="1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1700" b="0" i="1">
                          <a:latin typeface="Cambria Math" panose="02040503050406030204" pitchFamily="18" charset="0"/>
                        </a:rPr>
                        <m:t>𝑆h𝑜𝑟𝑡𝑓𝑎𝑙𝑙</m:t>
                      </m:r>
                      <m:r>
                        <a:rPr lang="en-US" sz="17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7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𝑈𝑆𝐷</m:t>
                          </m:r>
                        </m:e>
                      </m:d>
                      <m:r>
                        <a:rPr lang="en-US" sz="1700" b="0" i="1">
                          <a:latin typeface="Cambria Math" panose="02040503050406030204" pitchFamily="18" charset="0"/>
                        </a:rPr>
                        <m:t>∗52 ∗</m:t>
                      </m:r>
                      <m:d>
                        <m:dPr>
                          <m:ctrlPr>
                            <a:rPr lang="en-US" sz="17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6FE5C6-8201-0716-050F-145621503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81" y="1922561"/>
                <a:ext cx="10909643" cy="552659"/>
              </a:xfrm>
              <a:prstGeom prst="rect">
                <a:avLst/>
              </a:prstGeom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4BE4C-E6F6-A92F-51A0-C4461E00C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55940"/>
            <a:ext cx="5614416" cy="2779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62D48D-94C6-1D8F-A511-9CE580910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055940"/>
            <a:ext cx="5614416" cy="277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8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6687D-8984-0B83-5EE2-C93CB841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30A8E-15C1-5B84-4AA3-EBAF0E1B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WAFBS</a:t>
            </a:r>
            <a:endParaRPr lang="en-US" sz="6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4412-B6C2-B8C0-3710-5C4E0A58E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729166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[Unemployment Rate (%), Num FI]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54FBE-649E-37DD-F339-F184A64E5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F0690-BAEB-E4BD-626F-7AE6A229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5ACF4498-E7EC-7FA7-91E6-F69ED93C8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33F53D-1B5B-103C-E65E-185FDAFC9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0612E-3AAC-39D7-18E1-14AE9B61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WAFBS</a:t>
            </a:r>
            <a:endParaRPr lang="en-US" sz="6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0596-5D57-EA5C-0444-4242E29D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729166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[Unemployment Rate (%), Num FI]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D32062E9-55E2-B718-26FA-5418F3373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903F9-38C6-858C-DBF9-EC4C6F06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856736-1E6C-5586-9D15-85E14136FAE1}"/>
              </a:ext>
            </a:extLst>
          </p:cNvPr>
          <p:cNvSpPr txBox="1"/>
          <p:nvPr/>
        </p:nvSpPr>
        <p:spPr>
          <a:xfrm>
            <a:off x="9410700" y="2919742"/>
            <a:ext cx="2270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Takeaway:</a:t>
            </a:r>
          </a:p>
          <a:p>
            <a:endParaRPr lang="en-US" dirty="0"/>
          </a:p>
          <a:p>
            <a:r>
              <a:rPr lang="en-US" dirty="0"/>
              <a:t>The number of insecure individuals (FI) is increasing, but so is the per person shortfall.</a:t>
            </a:r>
          </a:p>
          <a:p>
            <a:endParaRPr lang="en-US" dirty="0"/>
          </a:p>
          <a:p>
            <a:r>
              <a:rPr lang="en-US" dirty="0"/>
              <a:t>More hungry people, and the hungry are hungrier.</a:t>
            </a:r>
          </a:p>
        </p:txBody>
      </p:sp>
    </p:spTree>
    <p:extLst>
      <p:ext uri="{BB962C8B-B14F-4D97-AF65-F5344CB8AC3E}">
        <p14:creationId xmlns:p14="http://schemas.microsoft.com/office/powerpoint/2010/main" val="3413631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B9CB2-82CE-3786-7E87-91D49B46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Quantifying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30D4B16-357E-FB12-3D92-63636DC69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804077"/>
              </p:ext>
            </p:extLst>
          </p:nvPr>
        </p:nvGraphicFramePr>
        <p:xfrm>
          <a:off x="2399043" y="1926266"/>
          <a:ext cx="7393915" cy="43575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53082">
                  <a:extLst>
                    <a:ext uri="{9D8B030D-6E8A-4147-A177-3AD203B41FA5}">
                      <a16:colId xmlns:a16="http://schemas.microsoft.com/office/drawing/2014/main" val="3712372112"/>
                    </a:ext>
                  </a:extLst>
                </a:gridCol>
                <a:gridCol w="1686207">
                  <a:extLst>
                    <a:ext uri="{9D8B030D-6E8A-4147-A177-3AD203B41FA5}">
                      <a16:colId xmlns:a16="http://schemas.microsoft.com/office/drawing/2014/main" val="3672168319"/>
                    </a:ext>
                  </a:extLst>
                </a:gridCol>
                <a:gridCol w="1768419">
                  <a:extLst>
                    <a:ext uri="{9D8B030D-6E8A-4147-A177-3AD203B41FA5}">
                      <a16:colId xmlns:a16="http://schemas.microsoft.com/office/drawing/2014/main" val="3818639275"/>
                    </a:ext>
                  </a:extLst>
                </a:gridCol>
                <a:gridCol w="1686207">
                  <a:extLst>
                    <a:ext uri="{9D8B030D-6E8A-4147-A177-3AD203B41FA5}">
                      <a16:colId xmlns:a16="http://schemas.microsoft.com/office/drawing/2014/main" val="210511092"/>
                    </a:ext>
                  </a:extLst>
                </a:gridCol>
              </a:tblGrid>
              <a:tr h="3626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Coef. (USD)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95% CI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878527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Pre-treatment periods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16100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− 3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−27,670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[−878,700, 823,400]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0.949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29550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− 2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171,200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[−370,200, 712,600]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0.535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531116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 dirty="0">
                          <a:solidFill>
                            <a:schemeClr val="tx1"/>
                          </a:solidFill>
                          <a:effectLst/>
                        </a:rPr>
                        <a:t>Post-treatment periods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2968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+ 0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−251,600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[−599,800, 96,510]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0.157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617801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+ 1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302,600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[−121,800, 726,900]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0.162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7535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+ 2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266,600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[−325,600, 858,800]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0.378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650934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+ 3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589,100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[−124,400, 1,303,000]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0.106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40622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+ 4 **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701,000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[62,350, 1,340,000]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0.032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04750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18158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Unemployment rate (%)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90,530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[−79,460, 260,500]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0.297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29850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Num FI persons ***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244.78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[211.34, 278.22]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&lt;0.001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8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09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95983-B60D-6179-F2EE-DC42A9C2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C72BA2-B3D1-388D-CB92-46B085755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752D5-ADF7-ECED-4C55-4CBABF68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Quantifying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93A4-7922-CAD2-1C16-BFE3E76E7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DBA73B-9587-631A-B603-A873D7BB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2556D3-50DB-4A35-5206-29B92F6A46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WAFBS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FI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𝑆h𝑜𝑟𝑡𝑓𝑎𝑙𝑙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𝑈𝑆𝐷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∗52 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 shortfall per person is $34.6 monthly, $8.07 weekly, or $1.15 daily.</a:t>
                </a:r>
              </a:p>
              <a:p>
                <a:r>
                  <a:rPr lang="en-US" dirty="0"/>
                  <a:t>Congressional Research Service Report R41374 cites the effects of the ARRA cut on dollar losses in subsidies as: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2556D3-50DB-4A35-5206-29B92F6A46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5B04DA-6197-4A4C-AA8C-1F60D1392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418301"/>
              </p:ext>
            </p:extLst>
          </p:nvPr>
        </p:nvGraphicFramePr>
        <p:xfrm>
          <a:off x="2138680" y="451442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515181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382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Household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Monthly Dollar Loss p.p.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5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50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(most common)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11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477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515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5DD64-A044-C5D6-FBF4-DBD8920C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9B9D8-D716-5D68-A736-D7AEE54D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WAFBS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A81F0-A82D-D20E-805F-B6060499A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1" y="1900826"/>
            <a:ext cx="6396204" cy="662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Spec: θ=0.3, Controls = [Num FI, Labor Force]</a:t>
            </a: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F1907-1BC6-4E7A-F331-23546103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38" y="3067050"/>
            <a:ext cx="6100075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92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91C29-9C56-0EB3-E040-9E1AB4C0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62933B5-65D3-C2A1-1B96-3D939BA4E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17FCC-2BB9-3A83-76F9-D516ECF6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Quantifying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70A2A2-F6DD-DE38-CACB-BF4EE582C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79F55A-BBB5-C260-64D5-88D59E49C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4025D6C-0212-D51B-A842-2591BC90C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913091"/>
              </p:ext>
            </p:extLst>
          </p:nvPr>
        </p:nvGraphicFramePr>
        <p:xfrm>
          <a:off x="2377440" y="1926266"/>
          <a:ext cx="7415518" cy="43575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74685">
                  <a:extLst>
                    <a:ext uri="{9D8B030D-6E8A-4147-A177-3AD203B41FA5}">
                      <a16:colId xmlns:a16="http://schemas.microsoft.com/office/drawing/2014/main" val="3712372112"/>
                    </a:ext>
                  </a:extLst>
                </a:gridCol>
                <a:gridCol w="1686207">
                  <a:extLst>
                    <a:ext uri="{9D8B030D-6E8A-4147-A177-3AD203B41FA5}">
                      <a16:colId xmlns:a16="http://schemas.microsoft.com/office/drawing/2014/main" val="3672168319"/>
                    </a:ext>
                  </a:extLst>
                </a:gridCol>
                <a:gridCol w="1768419">
                  <a:extLst>
                    <a:ext uri="{9D8B030D-6E8A-4147-A177-3AD203B41FA5}">
                      <a16:colId xmlns:a16="http://schemas.microsoft.com/office/drawing/2014/main" val="3818639275"/>
                    </a:ext>
                  </a:extLst>
                </a:gridCol>
                <a:gridCol w="1686207">
                  <a:extLst>
                    <a:ext uri="{9D8B030D-6E8A-4147-A177-3AD203B41FA5}">
                      <a16:colId xmlns:a16="http://schemas.microsoft.com/office/drawing/2014/main" val="210511092"/>
                    </a:ext>
                  </a:extLst>
                </a:gridCol>
              </a:tblGrid>
              <a:tr h="3626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Coef. (USD)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95% CI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0" cap="none" spc="6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878527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 dirty="0">
                          <a:solidFill>
                            <a:schemeClr val="tx1"/>
                          </a:solidFill>
                          <a:effectLst/>
                        </a:rPr>
                        <a:t>Pre-treatment periods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16100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 − 3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−305,400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[−1,164,000, 553,400]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</a:rPr>
                        <a:t>	0.486</a:t>
                      </a:r>
                    </a:p>
                  </a:txBody>
                  <a:tcPr marL="60068" marR="60068" marT="81796" marB="3003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29550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t− 2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−63,530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[−670,700, 543,700]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0.838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531116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 dirty="0">
                          <a:solidFill>
                            <a:schemeClr val="tx1"/>
                          </a:solidFill>
                          <a:effectLst/>
                        </a:rPr>
                        <a:t>Post-treatment periods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2968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 + 0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−37,290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[−358,700, 284,100]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0.820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617801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 + 1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621,400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[270,500, 972,300]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0.001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75357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 + 2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795,100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[293,500, 1,297,000]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0.002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650934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 + 3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902,800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[279,600, 1,526,000]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0.005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40622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t + 4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1,216,000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[554,700, 1,877,000]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&lt;0.001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04750"/>
                  </a:ext>
                </a:extLst>
              </a:tr>
              <a:tr h="325396">
                <a:tc gridSpan="4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Controls</a:t>
                      </a:r>
                    </a:p>
                  </a:txBody>
                  <a:tcPr marL="60068" marR="60068" marT="81796" marB="200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18158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Num FI persons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309.80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[267.72, 351.88]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&lt;0.001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29850"/>
                  </a:ext>
                </a:extLst>
              </a:tr>
              <a:tr h="3354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Labor force ***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196.73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[141.82, 251.64]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US" sz="1300" kern="1200" cap="none" spc="0" dirty="0">
                          <a:solidFill>
                            <a:schemeClr val="tx1"/>
                          </a:solidFill>
                          <a:effectLst/>
                          <a:latin typeface="ui-monospace"/>
                          <a:ea typeface="+mn-ea"/>
                          <a:cs typeface="+mn-cs"/>
                        </a:rPr>
                        <a:t>&lt;0.001</a:t>
                      </a:r>
                    </a:p>
                  </a:txBody>
                  <a:tcPr marL="114300" marR="114300" marT="57150" marB="571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8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71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21953-6346-48F3-0A41-CC126774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226A14-24B2-FF79-D18A-24B0E124C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85AE6-1FB1-223F-8AC3-693A7C9A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Quantifying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E8310-61C8-0694-DC8F-F23081EE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8C02F3-DB56-06C7-8F26-BED5600E3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BA59E28-B7AD-A4CD-966C-0C0C925AC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WAFBS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 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FI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𝑆h𝑜𝑟𝑡𝑓𝑎𝑙𝑙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𝑈𝑆𝐷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∗52 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 shortfall per person is $43.77 monthly, $10.21 weekly, or $1.46 daily.</a:t>
                </a:r>
              </a:p>
              <a:p>
                <a:r>
                  <a:rPr lang="en-US" dirty="0"/>
                  <a:t>Congressional Research Service Report R41374 cites the effects of the ARRA cut on dollar losses in subsidies as: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BA59E28-B7AD-A4CD-966C-0C0C925AC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9675E8-A85B-E72E-FD7A-CD766928A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184817"/>
              </p:ext>
            </p:extLst>
          </p:nvPr>
        </p:nvGraphicFramePr>
        <p:xfrm>
          <a:off x="2138680" y="451442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515181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3822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Household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Monthly Dollar Loss p.p.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5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50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 (most common)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11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477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973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6CE61-D92A-3E78-0B22-85212D9A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Robustness Checks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C9EAD8-3798-97C3-6D92-8030C6BE7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29539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344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937</Words>
  <Application>Microsoft Office PowerPoint</Application>
  <PresentationFormat>Widescreen</PresentationFormat>
  <Paragraphs>177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ui-monospace</vt:lpstr>
      <vt:lpstr>Office Theme</vt:lpstr>
      <vt:lpstr>ARRA Event Study</vt:lpstr>
      <vt:lpstr>The Events</vt:lpstr>
      <vt:lpstr>My Data</vt:lpstr>
      <vt:lpstr>MMG</vt:lpstr>
      <vt:lpstr>The Treatment</vt:lpstr>
      <vt:lpstr>The Design</vt:lpstr>
      <vt:lpstr>Some Preset TWFE Regressions</vt:lpstr>
      <vt:lpstr>Cost Per Meal ($)</vt:lpstr>
      <vt:lpstr>FI Rate</vt:lpstr>
      <vt:lpstr>Num FI Persons</vt:lpstr>
      <vt:lpstr>Side By Side: What is Increasing?</vt:lpstr>
      <vt:lpstr>WAFBS</vt:lpstr>
      <vt:lpstr>WAFBS</vt:lpstr>
      <vt:lpstr>Quantifying Results</vt:lpstr>
      <vt:lpstr>Quantifying Results</vt:lpstr>
      <vt:lpstr>WAFBS</vt:lpstr>
      <vt:lpstr>Quantifying Results</vt:lpstr>
      <vt:lpstr>Quantifying Results</vt:lpstr>
      <vt:lpstr>Plans for Robustness Checks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 Guvendi</dc:creator>
  <cp:lastModifiedBy>Ata Guvendi</cp:lastModifiedBy>
  <cp:revision>7</cp:revision>
  <dcterms:created xsi:type="dcterms:W3CDTF">2026-06-02T06:29:33Z</dcterms:created>
  <dcterms:modified xsi:type="dcterms:W3CDTF">2026-06-07T04:57:28Z</dcterms:modified>
</cp:coreProperties>
</file>